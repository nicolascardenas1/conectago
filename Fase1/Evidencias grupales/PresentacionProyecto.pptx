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ivVRAeqS/jNo0PMXWyW/zyqZUZ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914400"/>
            <a:ext cx="4572225" cy="4572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" name="Google Shape;22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" name="Google Shape;3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" name="Google Shape;85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4" name="Google Shape;174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4" name="Google Shape;194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7" name="Google Shape;247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065A82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1C7293">
              <a:alpha val="65098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 txBox="1"/>
          <p:nvPr/>
        </p:nvSpPr>
        <p:spPr>
          <a:xfrm>
            <a:off x="822960" y="11887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FD3E8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8FD3E8"/>
                </a:solidFill>
                <a:latin typeface="Calibri"/>
                <a:ea typeface="Calibri"/>
                <a:cs typeface="Calibri"/>
                <a:sym typeface="Calibri"/>
              </a:rPr>
              <a:t>PROYECTO APT · CAPSTONE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 txBox="1"/>
          <p:nvPr/>
        </p:nvSpPr>
        <p:spPr>
          <a:xfrm>
            <a:off x="777240" y="1600200"/>
            <a:ext cx="822960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mbria"/>
              <a:buNone/>
            </a:pPr>
            <a:r>
              <a:rPr lang="en-US" sz="64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LIMS</a:t>
            </a:r>
            <a:endParaRPr sz="6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 txBox="1"/>
          <p:nvPr/>
        </p:nvSpPr>
        <p:spPr>
          <a:xfrm>
            <a:off x="822960" y="269748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000"/>
              <a:buFont typeface="Calibri"/>
              <a:buNone/>
            </a:pPr>
            <a:r>
              <a:rPr lang="en-US" sz="2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Sistema de Gestión de Información de Laboratorio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" name="Google Shape;18;p1"/>
          <p:cNvCxnSpPr/>
          <p:nvPr/>
        </p:nvCxnSpPr>
        <p:spPr>
          <a:xfrm>
            <a:off x="822960" y="3429000"/>
            <a:ext cx="2926080" cy="0"/>
          </a:xfrm>
          <a:prstGeom prst="straightConnector1">
            <a:avLst/>
          </a:prstGeom>
          <a:noFill/>
          <a:ln w="25400" cap="flat" cmpd="sng">
            <a:solidFill>
              <a:srgbClr val="1C729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1"/>
          <p:cNvSpPr txBox="1"/>
          <p:nvPr/>
        </p:nvSpPr>
        <p:spPr>
          <a:xfrm>
            <a:off x="822960" y="3703320"/>
            <a:ext cx="777240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FC7D8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9FC7D8"/>
                </a:solidFill>
                <a:latin typeface="Calibri"/>
                <a:ea typeface="Calibri"/>
                <a:cs typeface="Calibri"/>
                <a:sym typeface="Calibri"/>
              </a:rPr>
              <a:t>Docente: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Anibal Faúndez</a:t>
            </a:r>
            <a:b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1">
                <a:solidFill>
                  <a:srgbClr val="9FC7D8"/>
                </a:solidFill>
                <a:latin typeface="Calibri"/>
                <a:ea typeface="Calibri"/>
                <a:cs typeface="Calibri"/>
                <a:sym typeface="Calibri"/>
              </a:rPr>
              <a:t>Asignatura: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b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 b="1">
                <a:solidFill>
                  <a:srgbClr val="9FC7D8"/>
                </a:solidFill>
                <a:latin typeface="Calibri"/>
                <a:ea typeface="Calibri"/>
                <a:cs typeface="Calibri"/>
                <a:sym typeface="Calibri"/>
              </a:rPr>
              <a:t>Equipo: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Claudio Murua · Cristian Solís · Nicolás Cárdenas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EL PROYECTO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Descripción y relevancia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 txBox="1"/>
          <p:nvPr/>
        </p:nvSpPr>
        <p:spPr>
          <a:xfrm>
            <a:off x="548640" y="16002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500"/>
              <a:buFont typeface="Calibri"/>
              <a:buNone/>
            </a:pPr>
            <a:r>
              <a:rPr lang="en-US" sz="15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LIMS (Laboratory Information Management System): una aplicación de escritorio en JavaFX, conectada a un backend Spring Boot y una base de datos centralizada en la nube, para gestionar el ciclo completo de un laboratorio de análisis — muestras, resultados y reportes.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6355080" y="1554480"/>
            <a:ext cx="5257800" cy="4160520"/>
          </a:xfrm>
          <a:prstGeom prst="roundRect">
            <a:avLst>
              <a:gd name="adj" fmla="val 263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 txBox="1"/>
          <p:nvPr/>
        </p:nvSpPr>
        <p:spPr>
          <a:xfrm>
            <a:off x="6675120" y="181051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¿POR QUÉ IMPORTA?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 txBox="1"/>
          <p:nvPr/>
        </p:nvSpPr>
        <p:spPr>
          <a:xfrm>
            <a:off x="6675120" y="2240280"/>
            <a:ext cx="4663440" cy="2331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86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Char char="●"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Laboratorios clínicos, acuícolas, ambientales y universitarios de la Región de Los Lagos gestionan procesos con cuadernos y planillas Excel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Char char="●"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Eso genera pérdida de muestras, errores de transcripción y baja trazabilidad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Char char="●"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Dificulta cumplir estándares normativos como ISO 17025 / GLP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2"/>
          <p:cNvCxnSpPr/>
          <p:nvPr/>
        </p:nvCxnSpPr>
        <p:spPr>
          <a:xfrm>
            <a:off x="6675120" y="4663440"/>
            <a:ext cx="4617720" cy="0"/>
          </a:xfrm>
          <a:prstGeom prst="straightConnector1">
            <a:avLst/>
          </a:prstGeom>
          <a:noFill/>
          <a:ln w="12700" cap="flat" cmpd="sng">
            <a:solidFill>
              <a:srgbClr val="D6E2E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2"/>
          <p:cNvSpPr txBox="1"/>
          <p:nvPr/>
        </p:nvSpPr>
        <p:spPr>
          <a:xfrm>
            <a:off x="6675120" y="4782312"/>
            <a:ext cx="466344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Aporte: </a:t>
            </a:r>
            <a:r>
              <a:rPr lang="en-US" sz="11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digitaliza estos procesos con datos centralizados y accesibles desde distintos puestos del laboratorio — una solución concreta para labs pequeños y medianos de la región.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48640" y="4114800"/>
            <a:ext cx="5486400" cy="160020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777240" y="4315968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Escritorio (JavaFX)  →  API REST (Spring Boot)  →  BD en la nube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2"/>
          <p:cNvSpPr txBox="1"/>
          <p:nvPr/>
        </p:nvSpPr>
        <p:spPr>
          <a:xfrm>
            <a:off x="777240" y="4754880"/>
            <a:ext cx="50292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Arquitectura cliente-servidor con datos centralizados y trazabilidad de extremo a extremo.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PERFIL DE EGRESO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Relación con las competencias del perfil de egreso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548640" y="16916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12700" cap="flat" cmpd="sng">
            <a:solidFill>
              <a:srgbClr val="E3EA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868680" y="178308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Realizar pruebas de certificación de productos y procesos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5120640" y="1783080"/>
            <a:ext cx="6309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Pruebas unitarias (JUnit) y de integración sobre la API REST (Spring Boot), con mejoras iterativas según resultados.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48640" y="2743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3EA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3"/>
          <p:cNvSpPr txBox="1"/>
          <p:nvPr/>
        </p:nvSpPr>
        <p:spPr>
          <a:xfrm>
            <a:off x="868680" y="283464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Gestionar proyectos informáticos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3"/>
          <p:cNvSpPr txBox="1"/>
          <p:nvPr/>
        </p:nvSpPr>
        <p:spPr>
          <a:xfrm>
            <a:off x="5120640" y="2834640"/>
            <a:ext cx="6309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Planificación y control mediante Scrum: sprints, backlog priorizado y reportes de avance semanales.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8640" y="3794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8FA"/>
          </a:solidFill>
          <a:ln w="12700" cap="flat" cmpd="sng">
            <a:solidFill>
              <a:srgbClr val="E3EA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3"/>
          <p:cNvSpPr txBox="1"/>
          <p:nvPr/>
        </p:nvSpPr>
        <p:spPr>
          <a:xfrm>
            <a:off x="868680" y="388620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Construir modelos de datos escalables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3"/>
          <p:cNvSpPr txBox="1"/>
          <p:nvPr/>
        </p:nvSpPr>
        <p:spPr>
          <a:xfrm>
            <a:off x="5120640" y="3886200"/>
            <a:ext cx="6309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Diseño de modelo relacional (PostgreSQL/MySQL en la nube) normalizado y escalable a múltiples laboratorios.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3"/>
          <p:cNvSpPr/>
          <p:nvPr/>
        </p:nvSpPr>
        <p:spPr>
          <a:xfrm>
            <a:off x="548640" y="48463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>
            <a:solidFill>
              <a:srgbClr val="E3EAE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"/>
          <p:cNvSpPr txBox="1"/>
          <p:nvPr/>
        </p:nvSpPr>
        <p:spPr>
          <a:xfrm>
            <a:off x="868680" y="4937760"/>
            <a:ext cx="4114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Desarrollar una solución de software sistematizada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 txBox="1"/>
          <p:nvPr/>
        </p:nvSpPr>
        <p:spPr>
          <a:xfrm>
            <a:off x="5120640" y="4937760"/>
            <a:ext cx="63093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250"/>
              <a:buFont typeface="Calibri"/>
              <a:buNone/>
            </a:pPr>
            <a:r>
              <a:rPr lang="en-US" sz="12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Construcción, integración e implantación de una solución cliente-servidor (JavaFX + Spring Boot) con control de versiones (Git/GitHub).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MOTIVACIÓN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Intereses profesionales y factibilidad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548640" y="15544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Intereses profesionales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548640" y="1965960"/>
            <a:ext cx="5303520" cy="2103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350"/>
              <a:buFont typeface="Calibri"/>
              <a:buNone/>
            </a:pPr>
            <a:r>
              <a:rPr lang="en-US" sz="13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El equipo tiene interés en el desarrollo de software empresarial de escritorio, un área de alta demanda en industrias que requieren sistemas robustos y locales (contable, salud, laboratorios). El proyecto permite profundizar en Java —lenguaje eje de la carrera—, arquitectura cliente-servidor y bases de datos, con potencial de continuidad como producto real.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4"/>
          <p:cNvSpPr/>
          <p:nvPr/>
        </p:nvSpPr>
        <p:spPr>
          <a:xfrm>
            <a:off x="548640" y="4434840"/>
            <a:ext cx="5303520" cy="1508760"/>
          </a:xfrm>
          <a:prstGeom prst="roundRect">
            <a:avLst>
              <a:gd name="adj" fmla="val 6061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"/>
          <p:cNvSpPr txBox="1"/>
          <p:nvPr/>
        </p:nvSpPr>
        <p:spPr>
          <a:xfrm>
            <a:off x="822960" y="46177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Java  ·  Cliente-Servidor  ·  Bases de Datos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4"/>
          <p:cNvSpPr txBox="1"/>
          <p:nvPr/>
        </p:nvSpPr>
        <p:spPr>
          <a:xfrm>
            <a:off x="822960" y="5010912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lang="en-US" sz="1200" i="1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Tres ejes técnicos de la carrera que este proyecto pone en práctica de forma directa, con proyección hacia un producto real para la industria.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 txBox="1"/>
          <p:nvPr/>
        </p:nvSpPr>
        <p:spPr>
          <a:xfrm>
            <a:off x="6172200" y="155448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Factibilidad dentro de la asignatura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6172200" y="196596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4"/>
          <p:cNvSpPr txBox="1"/>
          <p:nvPr/>
        </p:nvSpPr>
        <p:spPr>
          <a:xfrm>
            <a:off x="6172200" y="1965960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Tiempo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 txBox="1"/>
          <p:nvPr/>
        </p:nvSpPr>
        <p:spPr>
          <a:xfrm>
            <a:off x="7726680" y="1920240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12 semanas alcanzan para un MVP acotado (módulos core); funcionalidades avanzadas quedan para trabajo futuro.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6172200" y="29535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 txBox="1"/>
          <p:nvPr/>
        </p:nvSpPr>
        <p:spPr>
          <a:xfrm>
            <a:off x="6172200" y="2953512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Equipo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 txBox="1"/>
          <p:nvPr/>
        </p:nvSpPr>
        <p:spPr>
          <a:xfrm>
            <a:off x="7726680" y="2907792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3 integrantes permite distribuir cliente JavaFX, backend Spring Boot y BD/QA en paralelo.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6172200" y="3941064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 txBox="1"/>
          <p:nvPr/>
        </p:nvSpPr>
        <p:spPr>
          <a:xfrm>
            <a:off x="6172200" y="3941064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Recursos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4"/>
          <p:cNvSpPr txBox="1"/>
          <p:nvPr/>
        </p:nvSpPr>
        <p:spPr>
          <a:xfrm>
            <a:off x="7726680" y="3895344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100% software gratuito y open-source: JavaFX, Spring Boot y BD en la nube con plan free (Railway / Supabase).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6172200" y="4928616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4"/>
          <p:cNvSpPr txBox="1"/>
          <p:nvPr/>
        </p:nvSpPr>
        <p:spPr>
          <a:xfrm>
            <a:off x="6172200" y="4928616"/>
            <a:ext cx="14173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Riesgo principal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4"/>
          <p:cNvSpPr txBox="1"/>
          <p:nvPr/>
        </p:nvSpPr>
        <p:spPr>
          <a:xfrm>
            <a:off x="7726680" y="4882896"/>
            <a:ext cx="384048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50"/>
              <a:buFont typeface="Calibri"/>
              <a:buNone/>
            </a:pPr>
            <a:r>
              <a:rPr lang="en-US" sz="115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Curva de aprendizaje de JavaFX + Spring Boot en paralelo → se mitiga con roles claros desde la semana 1.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5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Objetivos del proyecto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822960" y="17373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8FD3E8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8FD3E8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822960" y="2011680"/>
            <a:ext cx="1051560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Desarrollar un MVP de sistema LIMS como aplicación de escritorio en Java (JavaFX), conectado a un backend Spring Boot y una BD en la nube, que gestione el ciclo completo de una muestra (ingreso, análisis, resultado y reporte) dentro del plazo de 12 semanas.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 txBox="1"/>
          <p:nvPr/>
        </p:nvSpPr>
        <p:spPr>
          <a:xfrm>
            <a:off x="548640" y="306324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548640" y="3520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749808" y="3703320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"/>
          <p:cNvSpPr txBox="1"/>
          <p:nvPr/>
        </p:nvSpPr>
        <p:spPr>
          <a:xfrm>
            <a:off x="749808" y="37033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5"/>
          <p:cNvSpPr txBox="1"/>
          <p:nvPr/>
        </p:nvSpPr>
        <p:spPr>
          <a:xfrm>
            <a:off x="749808" y="4178808"/>
            <a:ext cx="3118104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Implementar gestión de muestras con código único y estados de workflow.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4251960" y="3520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453128" y="3703320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4453128" y="37033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4453128" y="4178808"/>
            <a:ext cx="3118104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Implementar ingreso y validación de resultados por analista.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5"/>
          <p:cNvSpPr/>
          <p:nvPr/>
        </p:nvSpPr>
        <p:spPr>
          <a:xfrm>
            <a:off x="7955280" y="352044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5"/>
          <p:cNvSpPr/>
          <p:nvPr/>
        </p:nvSpPr>
        <p:spPr>
          <a:xfrm>
            <a:off x="8156448" y="3703320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5"/>
          <p:cNvSpPr txBox="1"/>
          <p:nvPr/>
        </p:nvSpPr>
        <p:spPr>
          <a:xfrm>
            <a:off x="8156448" y="37033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5"/>
          <p:cNvSpPr txBox="1"/>
          <p:nvPr/>
        </p:nvSpPr>
        <p:spPr>
          <a:xfrm>
            <a:off x="8156448" y="4178808"/>
            <a:ext cx="3118104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Implementar flujo de aprobación (Analista → Supervisor).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548640" y="493776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749808" y="5120640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749808" y="512064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5"/>
          <p:cNvSpPr txBox="1"/>
          <p:nvPr/>
        </p:nvSpPr>
        <p:spPr>
          <a:xfrm>
            <a:off x="749808" y="5596128"/>
            <a:ext cx="3118104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Generar reportes en PDF descargables desde la app de escritorio.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4251960" y="4937760"/>
            <a:ext cx="3520440" cy="1234440"/>
          </a:xfrm>
          <a:prstGeom prst="roundRect">
            <a:avLst>
              <a:gd name="adj" fmla="val 6667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4453128" y="5120640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 txBox="1"/>
          <p:nvPr/>
        </p:nvSpPr>
        <p:spPr>
          <a:xfrm>
            <a:off x="4453128" y="512064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/>
        </p:nvSpPr>
        <p:spPr>
          <a:xfrm>
            <a:off x="4453128" y="5596128"/>
            <a:ext cx="3118104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Implementar autenticación y roles de usuario contra el backend centralizado.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6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Metodología de trabajo: Scrum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 txBox="1"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Se opta por un enfoque ágil (Scrum) por sobre uno tradicional porque el proyecto se desarrolla de forma incremental, permite entregar módulos funcionales en cada sprint y facilita incorporar la retroalimentación del docente durante todo el proceso.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 txBox="1"/>
          <p:nvPr/>
        </p:nvSpPr>
        <p:spPr>
          <a:xfrm>
            <a:off x="548640" y="2377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lang="en-US" sz="1300" b="1" dirty="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6 sprints de 2 </a:t>
            </a:r>
            <a:r>
              <a:rPr lang="en-US" sz="1300" b="1" dirty="0" err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semanas</a:t>
            </a:r>
            <a:r>
              <a:rPr lang="en-US" sz="1300" b="1" dirty="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 · 12 </a:t>
            </a:r>
            <a:r>
              <a:rPr lang="en-US" sz="1300" b="1" dirty="0" err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semanas</a:t>
            </a:r>
            <a:r>
              <a:rPr lang="en-US" sz="1300" b="1" dirty="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300" b="1" dirty="0" err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desarrollo</a:t>
            </a:r>
            <a:endParaRPr sz="13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548640" y="2788920"/>
            <a:ext cx="1691640" cy="1033272"/>
          </a:xfrm>
          <a:prstGeom prst="roundRect">
            <a:avLst>
              <a:gd name="adj" fmla="val 823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 txBox="1"/>
          <p:nvPr/>
        </p:nvSpPr>
        <p:spPr>
          <a:xfrm>
            <a:off x="548640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1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548640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 dirty="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endParaRPr sz="1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2244852" y="3063240"/>
            <a:ext cx="109728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A6B7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2359152" y="2788919"/>
            <a:ext cx="1691640" cy="1033271"/>
          </a:xfrm>
          <a:prstGeom prst="roundRect">
            <a:avLst>
              <a:gd name="adj" fmla="val 8235"/>
            </a:avLst>
          </a:prstGeom>
          <a:solidFill>
            <a:srgbClr val="1C729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 txBox="1"/>
          <p:nvPr/>
        </p:nvSpPr>
        <p:spPr>
          <a:xfrm>
            <a:off x="2359152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2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 txBox="1"/>
          <p:nvPr/>
        </p:nvSpPr>
        <p:spPr>
          <a:xfrm>
            <a:off x="2359152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055364" y="3063240"/>
            <a:ext cx="109728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A6B7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169664" y="2788920"/>
            <a:ext cx="1691640" cy="1033270"/>
          </a:xfrm>
          <a:prstGeom prst="roundRect">
            <a:avLst>
              <a:gd name="adj" fmla="val 823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4169664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3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4169664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5865876" y="3063240"/>
            <a:ext cx="109728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A6B7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5980176" y="2788920"/>
            <a:ext cx="1691640" cy="1033270"/>
          </a:xfrm>
          <a:prstGeom prst="roundRect">
            <a:avLst>
              <a:gd name="adj" fmla="val 8235"/>
            </a:avLst>
          </a:prstGeom>
          <a:solidFill>
            <a:srgbClr val="1C729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6"/>
          <p:cNvSpPr txBox="1"/>
          <p:nvPr/>
        </p:nvSpPr>
        <p:spPr>
          <a:xfrm>
            <a:off x="5980176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4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6"/>
          <p:cNvSpPr txBox="1"/>
          <p:nvPr/>
        </p:nvSpPr>
        <p:spPr>
          <a:xfrm>
            <a:off x="5980176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7676388" y="3063240"/>
            <a:ext cx="109728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A6B7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/>
          <p:nvPr/>
        </p:nvSpPr>
        <p:spPr>
          <a:xfrm>
            <a:off x="7790688" y="2788919"/>
            <a:ext cx="1691640" cy="1033269"/>
          </a:xfrm>
          <a:prstGeom prst="roundRect">
            <a:avLst>
              <a:gd name="adj" fmla="val 8235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790688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5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 txBox="1"/>
          <p:nvPr/>
        </p:nvSpPr>
        <p:spPr>
          <a:xfrm>
            <a:off x="7790688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9486900" y="3063240"/>
            <a:ext cx="109728" cy="2286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A6B76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9601200" y="2788919"/>
            <a:ext cx="1691640" cy="1056587"/>
          </a:xfrm>
          <a:prstGeom prst="roundRect">
            <a:avLst>
              <a:gd name="adj" fmla="val 8235"/>
            </a:avLst>
          </a:prstGeom>
          <a:solidFill>
            <a:srgbClr val="1C7293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9601200" y="288036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Sprint 6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6"/>
          <p:cNvSpPr txBox="1"/>
          <p:nvPr/>
        </p:nvSpPr>
        <p:spPr>
          <a:xfrm>
            <a:off x="9601200" y="320040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DCEEF3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DCEEF3"/>
                </a:solidFill>
                <a:latin typeface="Calibri"/>
                <a:ea typeface="Calibri"/>
                <a:cs typeface="Calibri"/>
                <a:sym typeface="Calibri"/>
              </a:rPr>
              <a:t>2 semanas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548640" y="38862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ROLES SCRUM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548640" y="425196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777240" y="43891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Product Owner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777240" y="5010912"/>
            <a:ext cx="3154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Prioriza el backlog y valida cada incremento funcional.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4274136" y="425196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4526280" y="43891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Scrum Master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4526280" y="5010912"/>
            <a:ext cx="3154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Facilita las reuniones  y remueve impedimentos del equipo.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8046720" y="4251960"/>
            <a:ext cx="3611880" cy="1554480"/>
          </a:xfrm>
          <a:prstGeom prst="roundRect">
            <a:avLst>
              <a:gd name="adj" fmla="val 5882"/>
            </a:avLst>
          </a:prstGeom>
          <a:solidFill>
            <a:srgbClr val="F4F8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 txBox="1"/>
          <p:nvPr/>
        </p:nvSpPr>
        <p:spPr>
          <a:xfrm>
            <a:off x="8275320" y="4389120"/>
            <a:ext cx="31546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Equipo de Desarrollo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6"/>
          <p:cNvSpPr txBox="1"/>
          <p:nvPr/>
        </p:nvSpPr>
        <p:spPr>
          <a:xfrm>
            <a:off x="8275320" y="4690872"/>
            <a:ext cx="3154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Los 3 integrantes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762000" y="4754880"/>
            <a:ext cx="189716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Claudio Murúa</a:t>
            </a:r>
            <a:endParaRPr/>
          </a:p>
        </p:txBody>
      </p:sp>
      <p:sp>
        <p:nvSpPr>
          <p:cNvPr id="159" name="Google Shape;159;p6"/>
          <p:cNvSpPr txBox="1"/>
          <p:nvPr/>
        </p:nvSpPr>
        <p:spPr>
          <a:xfrm>
            <a:off x="4419295" y="4754880"/>
            <a:ext cx="209457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Nicolás Cárdenas</a:t>
            </a:r>
            <a:endParaRPr/>
          </a:p>
        </p:txBody>
      </p:sp>
      <p:sp>
        <p:nvSpPr>
          <p:cNvPr id="160" name="Google Shape;160;p6"/>
          <p:cNvSpPr txBox="1"/>
          <p:nvPr/>
        </p:nvSpPr>
        <p:spPr>
          <a:xfrm>
            <a:off x="8237719" y="4985828"/>
            <a:ext cx="331389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Claudio Murúa - Cristian Solís - Nicolás Cárdenas</a:t>
            </a:r>
            <a:endParaRPr/>
          </a:p>
        </p:txBody>
      </p:sp>
      <p:sp>
        <p:nvSpPr>
          <p:cNvPr id="3" name="Google Shape;126;p6">
            <a:extLst>
              <a:ext uri="{FF2B5EF4-FFF2-40B4-BE49-F238E27FC236}">
                <a16:creationId xmlns:a16="http://schemas.microsoft.com/office/drawing/2014/main" id="{1F63BF85-BBAD-B2F4-1B7D-70E03A89C751}"/>
              </a:ext>
            </a:extLst>
          </p:cNvPr>
          <p:cNvSpPr txBox="1"/>
          <p:nvPr/>
        </p:nvSpPr>
        <p:spPr>
          <a:xfrm>
            <a:off x="548640" y="3358527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Login +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conexión</a:t>
            </a: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al Backend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47CF3010-C976-501A-742A-DDD009BFEBC7}"/>
              </a:ext>
            </a:extLst>
          </p:cNvPr>
          <p:cNvSpPr txBox="1"/>
          <p:nvPr/>
        </p:nvSpPr>
        <p:spPr>
          <a:xfrm>
            <a:off x="2354580" y="3383279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Datos y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muestras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26;p6">
            <a:extLst>
              <a:ext uri="{FF2B5EF4-FFF2-40B4-BE49-F238E27FC236}">
                <a16:creationId xmlns:a16="http://schemas.microsoft.com/office/drawing/2014/main" id="{C67E7A06-C84E-CA25-D181-F38D32EAF04B}"/>
              </a:ext>
            </a:extLst>
          </p:cNvPr>
          <p:cNvSpPr txBox="1"/>
          <p:nvPr/>
        </p:nvSpPr>
        <p:spPr>
          <a:xfrm>
            <a:off x="4156925" y="3446687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Registro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completo</a:t>
            </a: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26;p6">
            <a:extLst>
              <a:ext uri="{FF2B5EF4-FFF2-40B4-BE49-F238E27FC236}">
                <a16:creationId xmlns:a16="http://schemas.microsoft.com/office/drawing/2014/main" id="{3A943B75-4D69-A41A-EC41-2652D6833D4C}"/>
              </a:ext>
            </a:extLst>
          </p:cNvPr>
          <p:cNvSpPr txBox="1"/>
          <p:nvPr/>
        </p:nvSpPr>
        <p:spPr>
          <a:xfrm>
            <a:off x="5975604" y="3470150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Aprobación</a:t>
            </a: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reportes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26;p6">
            <a:extLst>
              <a:ext uri="{FF2B5EF4-FFF2-40B4-BE49-F238E27FC236}">
                <a16:creationId xmlns:a16="http://schemas.microsoft.com/office/drawing/2014/main" id="{34ADFE5E-E686-9184-3E5B-2A339AA8D2C9}"/>
              </a:ext>
            </a:extLst>
          </p:cNvPr>
          <p:cNvSpPr txBox="1"/>
          <p:nvPr/>
        </p:nvSpPr>
        <p:spPr>
          <a:xfrm>
            <a:off x="7790688" y="3477068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Integración</a:t>
            </a: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completa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26;p6">
            <a:extLst>
              <a:ext uri="{FF2B5EF4-FFF2-40B4-BE49-F238E27FC236}">
                <a16:creationId xmlns:a16="http://schemas.microsoft.com/office/drawing/2014/main" id="{021879E9-3461-253F-5740-34E604A81746}"/>
              </a:ext>
            </a:extLst>
          </p:cNvPr>
          <p:cNvSpPr txBox="1"/>
          <p:nvPr/>
        </p:nvSpPr>
        <p:spPr>
          <a:xfrm>
            <a:off x="9588461" y="3477068"/>
            <a:ext cx="1691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Testing y </a:t>
            </a:r>
            <a:r>
              <a:rPr lang="en-US" sz="125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entrega</a:t>
            </a:r>
            <a:endParaRPr sz="12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Cronograma — Carta Gantt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 txBox="1"/>
          <p:nvPr/>
        </p:nvSpPr>
        <p:spPr>
          <a:xfrm>
            <a:off x="548640" y="6269776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100"/>
              <a:buFont typeface="Calibri"/>
              <a:buNone/>
            </a:pP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6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fases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(15 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semanas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):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levantamiento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diseño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→ backend/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base → CRUD y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resultados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reportes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→ testing y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entrega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Detalle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tareas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fechas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responsables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el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documento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100" i="1" dirty="0" err="1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proyecto</a:t>
            </a:r>
            <a:r>
              <a:rPr lang="en-US" sz="1100" i="1" dirty="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807875D-5294-5787-9774-6553B250AC43}"/>
              </a:ext>
            </a:extLst>
          </p:cNvPr>
          <p:cNvSpPr txBox="1"/>
          <p:nvPr/>
        </p:nvSpPr>
        <p:spPr>
          <a:xfrm>
            <a:off x="13676671" y="5584723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C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C24E13-0997-E7CF-F786-412A77C20D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252" y="1389888"/>
            <a:ext cx="11964464" cy="385070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Matriz RACI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1743304" y="1636776"/>
            <a:ext cx="8705088" cy="3656131"/>
          </a:xfrm>
          <a:prstGeom prst="roundRect">
            <a:avLst>
              <a:gd name="adj" fmla="val 15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381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11709" y="1712094"/>
            <a:ext cx="8415972" cy="33726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PLAN DE TRABAJO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9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Herramientas de trabajo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902056" y="2075688"/>
            <a:ext cx="10387584" cy="3763788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1A2733">
                <a:alpha val="2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1896" y="2418627"/>
            <a:ext cx="10088208" cy="2965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DISEÑO TÉCNICO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Esquema preliminar de la base de datos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2807764" y="1527048"/>
            <a:ext cx="6576167" cy="4764024"/>
          </a:xfrm>
          <a:prstGeom prst="roundRect">
            <a:avLst>
              <a:gd name="adj" fmla="val 1536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127000" dist="38100" dir="5400000" algn="bl" rotWithShape="0">
              <a:srgbClr val="1A2733">
                <a:alpha val="20000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p10" descr="/home/claude/assets/esquema_b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0916" y="1600200"/>
            <a:ext cx="6429863" cy="4617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REQUISITOS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Requisitos funcionales y no funcionales (preliminares)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 txBox="1"/>
          <p:nvPr/>
        </p:nvSpPr>
        <p:spPr>
          <a:xfrm>
            <a:off x="548640" y="150876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REQUISITOS FUNCIONALES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548640" y="1901952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 txBox="1"/>
          <p:nvPr/>
        </p:nvSpPr>
        <p:spPr>
          <a:xfrm>
            <a:off x="548640" y="1901952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RF01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 txBox="1"/>
          <p:nvPr/>
        </p:nvSpPr>
        <p:spPr>
          <a:xfrm>
            <a:off x="1371600" y="1901952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Registrar una muestra con código único desde la app de escritorio.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548640" y="2560320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1"/>
          <p:cNvSpPr txBox="1"/>
          <p:nvPr/>
        </p:nvSpPr>
        <p:spPr>
          <a:xfrm>
            <a:off x="548640" y="2560320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RF02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 txBox="1"/>
          <p:nvPr/>
        </p:nvSpPr>
        <p:spPr>
          <a:xfrm>
            <a:off x="1371600" y="2560320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Ingresar resultados asociados a un análisis.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548640" y="3218688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1"/>
          <p:cNvSpPr txBox="1"/>
          <p:nvPr/>
        </p:nvSpPr>
        <p:spPr>
          <a:xfrm>
            <a:off x="548640" y="3218688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RF03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1371600" y="3218688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Validar rangos de resultados automáticamente.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548640" y="3877056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1"/>
          <p:cNvSpPr txBox="1"/>
          <p:nvPr/>
        </p:nvSpPr>
        <p:spPr>
          <a:xfrm>
            <a:off x="548640" y="3877056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RF04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 txBox="1"/>
          <p:nvPr/>
        </p:nvSpPr>
        <p:spPr>
          <a:xfrm>
            <a:off x="1371600" y="3877056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Permitir la aprobación de resultados por un supervisor.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548640" y="4535424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1"/>
          <p:cNvSpPr txBox="1"/>
          <p:nvPr/>
        </p:nvSpPr>
        <p:spPr>
          <a:xfrm>
            <a:off x="548640" y="4535424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RF05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 txBox="1"/>
          <p:nvPr/>
        </p:nvSpPr>
        <p:spPr>
          <a:xfrm>
            <a:off x="1371600" y="4535424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Generar un reporte PDF descargable desde el cliente.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548640" y="5193792"/>
            <a:ext cx="68580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 txBox="1"/>
          <p:nvPr/>
        </p:nvSpPr>
        <p:spPr>
          <a:xfrm>
            <a:off x="548640" y="5193792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RF06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1"/>
          <p:cNvSpPr txBox="1"/>
          <p:nvPr/>
        </p:nvSpPr>
        <p:spPr>
          <a:xfrm>
            <a:off x="1371600" y="5193792"/>
            <a:ext cx="42062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Autenticación contra el backend con roles diferenciados.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 txBox="1"/>
          <p:nvPr/>
        </p:nvSpPr>
        <p:spPr>
          <a:xfrm>
            <a:off x="6309360" y="150876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REQUISITOS NO FUNCIONALES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/>
          <p:nvPr/>
        </p:nvSpPr>
        <p:spPr>
          <a:xfrm>
            <a:off x="6309360" y="1901952"/>
            <a:ext cx="868680" cy="566928"/>
          </a:xfrm>
          <a:prstGeom prst="roundRect">
            <a:avLst>
              <a:gd name="adj" fmla="val 967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1"/>
          <p:cNvSpPr txBox="1"/>
          <p:nvPr/>
        </p:nvSpPr>
        <p:spPr>
          <a:xfrm>
            <a:off x="6309360" y="190195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RNF01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 txBox="1"/>
          <p:nvPr/>
        </p:nvSpPr>
        <p:spPr>
          <a:xfrm>
            <a:off x="7315200" y="1901952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Tiempo de respuesta de la API &lt; 1 segundo.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6309360" y="2560320"/>
            <a:ext cx="868680" cy="566928"/>
          </a:xfrm>
          <a:prstGeom prst="roundRect">
            <a:avLst>
              <a:gd name="adj" fmla="val 967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1"/>
          <p:cNvSpPr txBox="1"/>
          <p:nvPr/>
        </p:nvSpPr>
        <p:spPr>
          <a:xfrm>
            <a:off x="6309360" y="2560320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RNF02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 txBox="1"/>
          <p:nvPr/>
        </p:nvSpPr>
        <p:spPr>
          <a:xfrm>
            <a:off x="7315200" y="2560320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La app de escritorio debe ejecutarse en Windows y Linux.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6309360" y="3218688"/>
            <a:ext cx="868680" cy="566928"/>
          </a:xfrm>
          <a:prstGeom prst="roundRect">
            <a:avLst>
              <a:gd name="adj" fmla="val 967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 txBox="1"/>
          <p:nvPr/>
        </p:nvSpPr>
        <p:spPr>
          <a:xfrm>
            <a:off x="6309360" y="3218688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RNF03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 txBox="1"/>
          <p:nvPr/>
        </p:nvSpPr>
        <p:spPr>
          <a:xfrm>
            <a:off x="7315200" y="3218688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Contraseñas almacenadas con hash seguro (BCrypt) en el backend.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6309360" y="3877056"/>
            <a:ext cx="868680" cy="566928"/>
          </a:xfrm>
          <a:prstGeom prst="roundRect">
            <a:avLst>
              <a:gd name="adj" fmla="val 967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 txBox="1"/>
          <p:nvPr/>
        </p:nvSpPr>
        <p:spPr>
          <a:xfrm>
            <a:off x="6309360" y="3877056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RNF04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 txBox="1"/>
          <p:nvPr/>
        </p:nvSpPr>
        <p:spPr>
          <a:xfrm>
            <a:off x="7315200" y="3877056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Comunicación cliente-servidor mediante HTTPS.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6309360" y="4535424"/>
            <a:ext cx="868680" cy="566928"/>
          </a:xfrm>
          <a:prstGeom prst="roundRect">
            <a:avLst>
              <a:gd name="adj" fmla="val 9677"/>
            </a:avLst>
          </a:prstGeom>
          <a:solidFill>
            <a:srgbClr val="21295C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1"/>
          <p:cNvSpPr txBox="1"/>
          <p:nvPr/>
        </p:nvSpPr>
        <p:spPr>
          <a:xfrm>
            <a:off x="6309360" y="4535424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RNF05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 txBox="1"/>
          <p:nvPr/>
        </p:nvSpPr>
        <p:spPr>
          <a:xfrm>
            <a:off x="7315200" y="4535424"/>
            <a:ext cx="42976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1A2733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1A2733"/>
                </a:solidFill>
                <a:latin typeface="Calibri"/>
                <a:ea typeface="Calibri"/>
                <a:cs typeface="Calibri"/>
                <a:sym typeface="Calibri"/>
              </a:rPr>
              <a:t>Código versionado en GitHub con commits documentados.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"/>
          <p:cNvSpPr txBox="1"/>
          <p:nvPr/>
        </p:nvSpPr>
        <p:spPr>
          <a:xfrm>
            <a:off x="11551615" y="640080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6B76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5A6B76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2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DISEÑO DE INTERFAZ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2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3200"/>
              <a:buFont typeface="Cambria"/>
              <a:buNone/>
            </a:pPr>
            <a:r>
              <a:rPr lang="en-US" sz="3200" b="1">
                <a:solidFill>
                  <a:srgbClr val="21295C"/>
                </a:solidFill>
                <a:latin typeface="Cambria"/>
                <a:ea typeface="Cambria"/>
                <a:cs typeface="Cambria"/>
                <a:sym typeface="Cambria"/>
              </a:rPr>
              <a:t>Mockups tentativos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2"/>
          <p:cNvSpPr/>
          <p:nvPr/>
        </p:nvSpPr>
        <p:spPr>
          <a:xfrm>
            <a:off x="502920" y="146304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p12" descr="/home/claude/assets/mockup_login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150876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2"/>
          <p:cNvSpPr txBox="1"/>
          <p:nvPr/>
        </p:nvSpPr>
        <p:spPr>
          <a:xfrm>
            <a:off x="548640" y="364845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1. Inicio de sesión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2"/>
          <p:cNvSpPr/>
          <p:nvPr/>
        </p:nvSpPr>
        <p:spPr>
          <a:xfrm>
            <a:off x="4206240" y="146304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12" descr="/home/claude/assets/mockup_listado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251960" y="150876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2"/>
          <p:cNvSpPr txBox="1"/>
          <p:nvPr/>
        </p:nvSpPr>
        <p:spPr>
          <a:xfrm>
            <a:off x="4251960" y="364845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2. Listado de muestras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2"/>
          <p:cNvSpPr/>
          <p:nvPr/>
        </p:nvSpPr>
        <p:spPr>
          <a:xfrm>
            <a:off x="7909560" y="146304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12" descr="/home/claude/assets/mockup_registro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55280" y="150876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2"/>
          <p:cNvSpPr txBox="1"/>
          <p:nvPr/>
        </p:nvSpPr>
        <p:spPr>
          <a:xfrm>
            <a:off x="7955280" y="364845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3. Registro de nueva muestra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2"/>
          <p:cNvSpPr/>
          <p:nvPr/>
        </p:nvSpPr>
        <p:spPr>
          <a:xfrm>
            <a:off x="502920" y="393192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3" name="Google Shape;263;p12" descr="/home/claude/assets/mockup_resultados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48640" y="397764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12"/>
          <p:cNvSpPr txBox="1"/>
          <p:nvPr/>
        </p:nvSpPr>
        <p:spPr>
          <a:xfrm>
            <a:off x="548640" y="611733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4. Ingreso de resultados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/>
          <p:nvPr/>
        </p:nvSpPr>
        <p:spPr>
          <a:xfrm>
            <a:off x="4206240" y="393192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6" name="Google Shape;266;p12" descr="/home/claude/assets/mockup_aprobacion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251960" y="397764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2"/>
          <p:cNvSpPr txBox="1"/>
          <p:nvPr/>
        </p:nvSpPr>
        <p:spPr>
          <a:xfrm>
            <a:off x="4251960" y="611733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5. Aprobación de resultados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/>
          <p:nvPr/>
        </p:nvSpPr>
        <p:spPr>
          <a:xfrm>
            <a:off x="7909560" y="3931920"/>
            <a:ext cx="3611880" cy="2176272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12700" cap="flat" cmpd="sng">
            <a:solidFill>
              <a:srgbClr val="D7E0E3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5400000" algn="bl" rotWithShape="0">
              <a:srgbClr val="1A2733">
                <a:alpha val="18039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9" name="Google Shape;269;p12" descr="/home/claude/assets/mockup_report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955280" y="3977640"/>
            <a:ext cx="3520440" cy="208483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2"/>
          <p:cNvSpPr txBox="1"/>
          <p:nvPr/>
        </p:nvSpPr>
        <p:spPr>
          <a:xfrm>
            <a:off x="7955280" y="6117336"/>
            <a:ext cx="35204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6. Vista previa del reporte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95C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065A82">
              <a:alpha val="60000"/>
            </a:srgb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 txBox="1"/>
          <p:nvPr/>
        </p:nvSpPr>
        <p:spPr>
          <a:xfrm>
            <a:off x="822960" y="246888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mbria"/>
              <a:buNone/>
            </a:pPr>
            <a:r>
              <a:rPr lang="en-US" sz="4800" b="1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Gracias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 txBox="1"/>
          <p:nvPr/>
        </p:nvSpPr>
        <p:spPr>
          <a:xfrm>
            <a:off x="868680" y="33375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LIMS — Sistema de Gestión de Información de Laboratorio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 txBox="1"/>
          <p:nvPr/>
        </p:nvSpPr>
        <p:spPr>
          <a:xfrm>
            <a:off x="868680" y="3886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9FC7D8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9FC7D8"/>
                </a:solidFill>
                <a:latin typeface="Calibri"/>
                <a:ea typeface="Calibri"/>
                <a:cs typeface="Calibri"/>
                <a:sym typeface="Calibri"/>
              </a:rPr>
              <a:t>Claudio Murua  ·  Cristian Solís  ·  Nicolás Cárdenas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1018</Words>
  <Application>Microsoft Office PowerPoint</Application>
  <PresentationFormat>Panorámica</PresentationFormat>
  <Paragraphs>156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Nicolás Cárdenas Llancaman</cp:lastModifiedBy>
  <cp:revision>4</cp:revision>
  <dcterms:created xsi:type="dcterms:W3CDTF">2026-08-31T02:06:30Z</dcterms:created>
  <dcterms:modified xsi:type="dcterms:W3CDTF">2026-08-31T20:39:58Z</dcterms:modified>
</cp:coreProperties>
</file>