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ivVRAeqS/jNo0PMXWyW/zyqZUZ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" name="Google Shape;3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" name="Google Shape;184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7" name="Google Shape;247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3" name="Google Shape;273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1.png"/><Relationship Id="rId7" Type="http://schemas.openxmlformats.org/officeDocument/2006/relationships/image" Target="../media/image5.png"/><Relationship Id="rId8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065A82">
              <a:alpha val="6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10789920" y="4206240"/>
            <a:ext cx="3108960" cy="3108960"/>
          </a:xfrm>
          <a:prstGeom prst="ellipse">
            <a:avLst/>
          </a:prstGeom>
          <a:solidFill>
            <a:srgbClr val="1C7293">
              <a:alpha val="6509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 txBox="1"/>
          <p:nvPr/>
        </p:nvSpPr>
        <p:spPr>
          <a:xfrm>
            <a:off x="822960" y="11887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3E8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8FD3E8"/>
                </a:solidFill>
                <a:latin typeface="Calibri"/>
                <a:ea typeface="Calibri"/>
                <a:cs typeface="Calibri"/>
                <a:sym typeface="Calibri"/>
              </a:rPr>
              <a:t>PROYECTO APT · CAPSTONE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 txBox="1"/>
          <p:nvPr/>
        </p:nvSpPr>
        <p:spPr>
          <a:xfrm>
            <a:off x="777240" y="160020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mbria"/>
              <a:buNone/>
            </a:pPr>
            <a:r>
              <a:rPr b="1" lang="en-US" sz="6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LIMS</a:t>
            </a:r>
            <a:endParaRPr sz="6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822960" y="269748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Sistema de Gestión de Información de Laboratorio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" name="Google Shape;18;p1"/>
          <p:cNvCxnSpPr/>
          <p:nvPr/>
        </p:nvCxnSpPr>
        <p:spPr>
          <a:xfrm>
            <a:off x="822960" y="3429000"/>
            <a:ext cx="2926080" cy="0"/>
          </a:xfrm>
          <a:prstGeom prst="straightConnector1">
            <a:avLst/>
          </a:prstGeom>
          <a:noFill/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1"/>
          <p:cNvSpPr txBox="1"/>
          <p:nvPr/>
        </p:nvSpPr>
        <p:spPr>
          <a:xfrm>
            <a:off x="822960" y="3703320"/>
            <a:ext cx="7772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FC7D8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9FC7D8"/>
                </a:solidFill>
                <a:latin typeface="Calibri"/>
                <a:ea typeface="Calibri"/>
                <a:cs typeface="Calibri"/>
                <a:sym typeface="Calibri"/>
              </a:rPr>
              <a:t>Docente: </a:t>
            </a: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Anibal Faúndez</a:t>
            </a:r>
            <a:b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400">
                <a:solidFill>
                  <a:srgbClr val="9FC7D8"/>
                </a:solidFill>
                <a:latin typeface="Calibri"/>
                <a:ea typeface="Calibri"/>
                <a:cs typeface="Calibri"/>
                <a:sym typeface="Calibri"/>
              </a:rPr>
              <a:t>Asignatura: </a:t>
            </a: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Capstone</a:t>
            </a:r>
            <a:b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400">
                <a:solidFill>
                  <a:srgbClr val="9FC7D8"/>
                </a:solidFill>
                <a:latin typeface="Calibri"/>
                <a:ea typeface="Calibri"/>
                <a:cs typeface="Calibri"/>
                <a:sym typeface="Calibri"/>
              </a:rPr>
              <a:t>Equipo: </a:t>
            </a: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Claudio Murua · Cristian Solís · Nicolás Cárdenas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B7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EL PROYECTO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Descripción y relevancia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 txBox="1"/>
          <p:nvPr/>
        </p:nvSpPr>
        <p:spPr>
          <a:xfrm>
            <a:off x="548640" y="1600200"/>
            <a:ext cx="5486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LIMS (Laboratory Information Management System): una aplicación de escritorio en JavaFX, conectada a un backend Spring Boot y una base de datos centralizada en la nube, para gestionar el ciclo completo de un laboratorio de análisis — muestras, resultados y reportes.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6355080" y="1554480"/>
            <a:ext cx="5257800" cy="4160520"/>
          </a:xfrm>
          <a:prstGeom prst="roundRect">
            <a:avLst>
              <a:gd fmla="val 2637" name="adj"/>
            </a:avLst>
          </a:prstGeom>
          <a:solidFill>
            <a:srgbClr val="F4F8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 txBox="1"/>
          <p:nvPr/>
        </p:nvSpPr>
        <p:spPr>
          <a:xfrm>
            <a:off x="6675120" y="181051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¿POR QUÉ IMPORTA?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 txBox="1"/>
          <p:nvPr/>
        </p:nvSpPr>
        <p:spPr>
          <a:xfrm>
            <a:off x="6675120" y="2240280"/>
            <a:ext cx="4663440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250"/>
              <a:buFont typeface="Calibri"/>
              <a:buChar char="●"/>
            </a:pPr>
            <a:r>
              <a:rPr lang="en-US" sz="1250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Laboratorios clínicos, acuícolas, ambientales y universitarios de la Región de Los Lagos gestionan procesos con cuadernos y planillas Excel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1A2733"/>
              </a:buClr>
              <a:buSzPts val="1250"/>
              <a:buFont typeface="Calibri"/>
              <a:buChar char="●"/>
            </a:pPr>
            <a:r>
              <a:rPr lang="en-US" sz="1250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Eso genera pérdida de muestras, errores de transcripción y baja trazabilidad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1A2733"/>
              </a:buClr>
              <a:buSzPts val="1250"/>
              <a:buFont typeface="Calibri"/>
              <a:buChar char="●"/>
            </a:pPr>
            <a:r>
              <a:rPr lang="en-US" sz="1250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Dificulta cumplir estándares normativos como ISO 17025 / GLP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" name="Google Shape;32;p2"/>
          <p:cNvCxnSpPr/>
          <p:nvPr/>
        </p:nvCxnSpPr>
        <p:spPr>
          <a:xfrm>
            <a:off x="6675120" y="4663440"/>
            <a:ext cx="4617720" cy="0"/>
          </a:xfrm>
          <a:prstGeom prst="straightConnector1">
            <a:avLst/>
          </a:prstGeom>
          <a:noFill/>
          <a:ln cap="flat" cmpd="sng" w="12700">
            <a:solidFill>
              <a:srgbClr val="D6E2E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p2"/>
          <p:cNvSpPr txBox="1"/>
          <p:nvPr/>
        </p:nvSpPr>
        <p:spPr>
          <a:xfrm>
            <a:off x="6675120" y="4782312"/>
            <a:ext cx="46634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Aporte: </a:t>
            </a:r>
            <a:r>
              <a:rPr lang="en-US" sz="1150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digitaliza estos procesos con datos centralizados y accesibles desde distintos puestos del laboratorio — una solución concreta para labs pequeños y medianos de la región.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48640" y="4114800"/>
            <a:ext cx="5486400" cy="1600200"/>
          </a:xfrm>
          <a:prstGeom prst="roundRect">
            <a:avLst>
              <a:gd fmla="val 5714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777240" y="4315968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Escritorio (JavaFX)  →  API REST (Spring Boot)  →  BD en la nube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 txBox="1"/>
          <p:nvPr/>
        </p:nvSpPr>
        <p:spPr>
          <a:xfrm>
            <a:off x="777240" y="4754880"/>
            <a:ext cx="5029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Arquitectura cliente-servidor con datos centralizados y trazabilidad de extremo a extremo.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B7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PERFIL DE EGRESO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Relación con las competencias del perfil de egreso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fmla="val 8000" name="adj"/>
            </a:avLst>
          </a:prstGeom>
          <a:solidFill>
            <a:srgbClr val="F4F8FA"/>
          </a:solidFill>
          <a:ln cap="flat" cmpd="sng" w="12700">
            <a:solidFill>
              <a:srgbClr val="E3EA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 txBox="1"/>
          <p:nvPr/>
        </p:nvSpPr>
        <p:spPr>
          <a:xfrm>
            <a:off x="868680" y="1783080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Realizar pruebas de certificación de productos y procesos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 txBox="1"/>
          <p:nvPr/>
        </p:nvSpPr>
        <p:spPr>
          <a:xfrm>
            <a:off x="5120640" y="1783080"/>
            <a:ext cx="6309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Pruebas unitarias (JUnit) y de integración sobre la API REST (Spring Boot), con mejoras iterativas según resultados.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548640" y="2743200"/>
            <a:ext cx="1106424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3EA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 txBox="1"/>
          <p:nvPr/>
        </p:nvSpPr>
        <p:spPr>
          <a:xfrm>
            <a:off x="868680" y="2834640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Gestionar proyectos informáticos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 txBox="1"/>
          <p:nvPr/>
        </p:nvSpPr>
        <p:spPr>
          <a:xfrm>
            <a:off x="5120640" y="2834640"/>
            <a:ext cx="6309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Planificación y control mediante Scrum: sprints, backlog priorizado y reportes de avance semanales.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548640" y="3794760"/>
            <a:ext cx="11064240" cy="914400"/>
          </a:xfrm>
          <a:prstGeom prst="roundRect">
            <a:avLst>
              <a:gd fmla="val 8000" name="adj"/>
            </a:avLst>
          </a:prstGeom>
          <a:solidFill>
            <a:srgbClr val="F4F8FA"/>
          </a:solidFill>
          <a:ln cap="flat" cmpd="sng" w="12700">
            <a:solidFill>
              <a:srgbClr val="E3EA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 txBox="1"/>
          <p:nvPr/>
        </p:nvSpPr>
        <p:spPr>
          <a:xfrm>
            <a:off x="868680" y="3886200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Construir modelos de datos escalables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 txBox="1"/>
          <p:nvPr/>
        </p:nvSpPr>
        <p:spPr>
          <a:xfrm>
            <a:off x="5120640" y="3886200"/>
            <a:ext cx="6309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Diseño de modelo relacional (PostgreSQL/MySQL en la nube) normalizado y escalable a múltiples laboratorios.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548640" y="4846320"/>
            <a:ext cx="1106424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3EA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 txBox="1"/>
          <p:nvPr/>
        </p:nvSpPr>
        <p:spPr>
          <a:xfrm>
            <a:off x="868680" y="4937760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Desarrollar una solución de software sistematizada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 txBox="1"/>
          <p:nvPr/>
        </p:nvSpPr>
        <p:spPr>
          <a:xfrm>
            <a:off x="5120640" y="4937760"/>
            <a:ext cx="6309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Construcción, integración e implantación de una solución cliente-servidor (JavaFX + Spring Boot) con control de versiones (Git/GitHub).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B7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MOTIVACIÓN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Intereses profesionales y factibilidad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548640" y="155448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Intereses profesionales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548640" y="1965960"/>
            <a:ext cx="530352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El equipo tiene interés en el desarrollo de software empresarial de escritorio, un área de alta demanda en industrias que requieren sistemas robustos y locales (contable, salud, laboratorios). El proyecto permite profundizar en Java —lenguaje eje de la carrera—, arquitectura cliente-servidor y bases de datos, con potencial de continuidad como producto real.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548640" y="4434840"/>
            <a:ext cx="5303520" cy="1508760"/>
          </a:xfrm>
          <a:prstGeom prst="roundRect">
            <a:avLst>
              <a:gd fmla="val 6061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 txBox="1"/>
          <p:nvPr/>
        </p:nvSpPr>
        <p:spPr>
          <a:xfrm>
            <a:off x="822960" y="461772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Java  ·  Cliente-Servidor  ·  Bases de Datos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 txBox="1"/>
          <p:nvPr/>
        </p:nvSpPr>
        <p:spPr>
          <a:xfrm>
            <a:off x="822960" y="5010912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Tres ejes técnicos de la carrera que este proyecto pone en práctica de forma directa, con proyección hacia un producto real para la industria.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 txBox="1"/>
          <p:nvPr/>
        </p:nvSpPr>
        <p:spPr>
          <a:xfrm>
            <a:off x="6172200" y="1554480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Factibilidad dentro de la asignatura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6172200" y="1965960"/>
            <a:ext cx="1417320" cy="502920"/>
          </a:xfrm>
          <a:prstGeom prst="roundRect">
            <a:avLst>
              <a:gd fmla="val 14545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 txBox="1"/>
          <p:nvPr/>
        </p:nvSpPr>
        <p:spPr>
          <a:xfrm>
            <a:off x="6172200" y="196596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Tiempo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 txBox="1"/>
          <p:nvPr/>
        </p:nvSpPr>
        <p:spPr>
          <a:xfrm>
            <a:off x="7726680" y="1920240"/>
            <a:ext cx="3840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12 semanas alcanzan para un MVP acotado (módulos core); funcionalidades avanzadas quedan para trabajo futuro.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6172200" y="2953512"/>
            <a:ext cx="1417320" cy="502920"/>
          </a:xfrm>
          <a:prstGeom prst="roundRect">
            <a:avLst>
              <a:gd fmla="val 14545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 txBox="1"/>
          <p:nvPr/>
        </p:nvSpPr>
        <p:spPr>
          <a:xfrm>
            <a:off x="6172200" y="2953512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Equipo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 txBox="1"/>
          <p:nvPr/>
        </p:nvSpPr>
        <p:spPr>
          <a:xfrm>
            <a:off x="7726680" y="2907792"/>
            <a:ext cx="3840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3 integrantes permite distribuir cliente JavaFX, backend Spring Boot y BD/QA en paralelo.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6172200" y="3941064"/>
            <a:ext cx="1417320" cy="502920"/>
          </a:xfrm>
          <a:prstGeom prst="roundRect">
            <a:avLst>
              <a:gd fmla="val 14545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 txBox="1"/>
          <p:nvPr/>
        </p:nvSpPr>
        <p:spPr>
          <a:xfrm>
            <a:off x="6172200" y="3941064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Recursos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 txBox="1"/>
          <p:nvPr/>
        </p:nvSpPr>
        <p:spPr>
          <a:xfrm>
            <a:off x="7726680" y="3895344"/>
            <a:ext cx="3840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100% software gratuito y open-source: JavaFX, Spring Boot y BD en la nube con plan free (Railway / Supabase).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6172200" y="4928616"/>
            <a:ext cx="1417320" cy="502920"/>
          </a:xfrm>
          <a:prstGeom prst="roundRect">
            <a:avLst>
              <a:gd fmla="val 14545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 txBox="1"/>
          <p:nvPr/>
        </p:nvSpPr>
        <p:spPr>
          <a:xfrm>
            <a:off x="6172200" y="4928616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Riesgo principal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 txBox="1"/>
          <p:nvPr/>
        </p:nvSpPr>
        <p:spPr>
          <a:xfrm>
            <a:off x="7726680" y="4882896"/>
            <a:ext cx="3840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Curva de aprendizaje de JavaFX + Spring Boot en paralelo → se mitiga con roles claros desde la semana 1.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B7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OBJETIVOS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Objetivos del proyecto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548640" y="1600200"/>
            <a:ext cx="11064240" cy="1234440"/>
          </a:xfrm>
          <a:prstGeom prst="roundRect">
            <a:avLst>
              <a:gd fmla="val 7407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 txBox="1"/>
          <p:nvPr/>
        </p:nvSpPr>
        <p:spPr>
          <a:xfrm>
            <a:off x="822960" y="17373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3E8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8FD3E8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 txBox="1"/>
          <p:nvPr/>
        </p:nvSpPr>
        <p:spPr>
          <a:xfrm>
            <a:off x="822960" y="2011680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Desarrollar un MVP de sistema LIMS como aplicación de escritorio en Java (JavaFX), conectado a un backend Spring Boot y una BD en la nube, que gestione el ciclo completo de una muestra (ingreso, análisis, resultado y reporte) dentro del plazo de 12 semanas.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 txBox="1"/>
          <p:nvPr/>
        </p:nvSpPr>
        <p:spPr>
          <a:xfrm>
            <a:off x="548640" y="30632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548640" y="3520440"/>
            <a:ext cx="3520440" cy="1234440"/>
          </a:xfrm>
          <a:prstGeom prst="roundRect">
            <a:avLst>
              <a:gd fmla="val 6667" name="adj"/>
            </a:avLst>
          </a:prstGeom>
          <a:solidFill>
            <a:srgbClr val="F4F8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749808" y="3703320"/>
            <a:ext cx="384048" cy="38404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 txBox="1"/>
          <p:nvPr/>
        </p:nvSpPr>
        <p:spPr>
          <a:xfrm>
            <a:off x="749808" y="37033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 txBox="1"/>
          <p:nvPr/>
        </p:nvSpPr>
        <p:spPr>
          <a:xfrm>
            <a:off x="749808" y="4178808"/>
            <a:ext cx="311810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Implementar gestión de muestras con código único y estados de workflow.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4251960" y="3520440"/>
            <a:ext cx="3520440" cy="1234440"/>
          </a:xfrm>
          <a:prstGeom prst="roundRect">
            <a:avLst>
              <a:gd fmla="val 6667" name="adj"/>
            </a:avLst>
          </a:prstGeom>
          <a:solidFill>
            <a:srgbClr val="F4F8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4453128" y="3703320"/>
            <a:ext cx="384048" cy="38404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4453128" y="37033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4453128" y="4178808"/>
            <a:ext cx="311810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Implementar ingreso y validación de resultados por analista.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7955280" y="3520440"/>
            <a:ext cx="3520440" cy="1234440"/>
          </a:xfrm>
          <a:prstGeom prst="roundRect">
            <a:avLst>
              <a:gd fmla="val 6667" name="adj"/>
            </a:avLst>
          </a:prstGeom>
          <a:solidFill>
            <a:srgbClr val="F4F8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8156448" y="3703320"/>
            <a:ext cx="384048" cy="38404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 txBox="1"/>
          <p:nvPr/>
        </p:nvSpPr>
        <p:spPr>
          <a:xfrm>
            <a:off x="8156448" y="37033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 txBox="1"/>
          <p:nvPr/>
        </p:nvSpPr>
        <p:spPr>
          <a:xfrm>
            <a:off x="8156448" y="4178808"/>
            <a:ext cx="311810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Implementar flujo de aprobación (Analista → Supervisor).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548640" y="4937760"/>
            <a:ext cx="3520440" cy="1234440"/>
          </a:xfrm>
          <a:prstGeom prst="roundRect">
            <a:avLst>
              <a:gd fmla="val 6667" name="adj"/>
            </a:avLst>
          </a:prstGeom>
          <a:solidFill>
            <a:srgbClr val="F4F8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749808" y="5120640"/>
            <a:ext cx="384048" cy="38404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 txBox="1"/>
          <p:nvPr/>
        </p:nvSpPr>
        <p:spPr>
          <a:xfrm>
            <a:off x="749808" y="51206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 txBox="1"/>
          <p:nvPr/>
        </p:nvSpPr>
        <p:spPr>
          <a:xfrm>
            <a:off x="749808" y="5596128"/>
            <a:ext cx="311810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Generar reportes en PDF descargables desde la app de escritorio.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4251960" y="4937760"/>
            <a:ext cx="3520440" cy="1234440"/>
          </a:xfrm>
          <a:prstGeom prst="roundRect">
            <a:avLst>
              <a:gd fmla="val 6667" name="adj"/>
            </a:avLst>
          </a:prstGeom>
          <a:solidFill>
            <a:srgbClr val="F4F8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4453128" y="5120640"/>
            <a:ext cx="384048" cy="38404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 txBox="1"/>
          <p:nvPr/>
        </p:nvSpPr>
        <p:spPr>
          <a:xfrm>
            <a:off x="4453128" y="51206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 txBox="1"/>
          <p:nvPr/>
        </p:nvSpPr>
        <p:spPr>
          <a:xfrm>
            <a:off x="4453128" y="5596128"/>
            <a:ext cx="311810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Implementar autenticación y roles de usuario contra el backend centralizado.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B76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METODOLOGÍA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Metodología de trabajo: Scrum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 txBox="1"/>
          <p:nvPr/>
        </p:nvSpPr>
        <p:spPr>
          <a:xfrm>
            <a:off x="548640" y="1554480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Se opta por un enfoque ágil (Scrum) por sobre uno tradicional porque el proyecto se desarrolla de forma incremental, permite entregar módulos funcionales en cada sprint y facilita incorporar la retroalimentación del docente durante todo el proceso.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 txBox="1"/>
          <p:nvPr/>
        </p:nvSpPr>
        <p:spPr>
          <a:xfrm>
            <a:off x="548640" y="23774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6 sprints de 2 semanas · 12 semanas totales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548640" y="2788920"/>
            <a:ext cx="1691640" cy="777240"/>
          </a:xfrm>
          <a:prstGeom prst="roundRect">
            <a:avLst>
              <a:gd fmla="val 8235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 txBox="1"/>
          <p:nvPr/>
        </p:nvSpPr>
        <p:spPr>
          <a:xfrm>
            <a:off x="548640" y="288036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Sprint 1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548640" y="320040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EEF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CEEF3"/>
                </a:solidFill>
                <a:latin typeface="Calibri"/>
                <a:ea typeface="Calibri"/>
                <a:cs typeface="Calibri"/>
                <a:sym typeface="Calibri"/>
              </a:rPr>
              <a:t>2 semanas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2244852" y="3063240"/>
            <a:ext cx="109728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A6B7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2359152" y="2788920"/>
            <a:ext cx="1691640" cy="777240"/>
          </a:xfrm>
          <a:prstGeom prst="roundRect">
            <a:avLst>
              <a:gd fmla="val 8235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 txBox="1"/>
          <p:nvPr/>
        </p:nvSpPr>
        <p:spPr>
          <a:xfrm>
            <a:off x="2359152" y="288036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Sprint 2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 txBox="1"/>
          <p:nvPr/>
        </p:nvSpPr>
        <p:spPr>
          <a:xfrm>
            <a:off x="2359152" y="320040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EEF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CEEF3"/>
                </a:solidFill>
                <a:latin typeface="Calibri"/>
                <a:ea typeface="Calibri"/>
                <a:cs typeface="Calibri"/>
                <a:sym typeface="Calibri"/>
              </a:rPr>
              <a:t>2 semanas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4055364" y="3063240"/>
            <a:ext cx="109728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A6B7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4169664" y="2788920"/>
            <a:ext cx="1691640" cy="777240"/>
          </a:xfrm>
          <a:prstGeom prst="roundRect">
            <a:avLst>
              <a:gd fmla="val 8235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 txBox="1"/>
          <p:nvPr/>
        </p:nvSpPr>
        <p:spPr>
          <a:xfrm>
            <a:off x="4169664" y="288036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Sprint 3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 txBox="1"/>
          <p:nvPr/>
        </p:nvSpPr>
        <p:spPr>
          <a:xfrm>
            <a:off x="4169664" y="320040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EEF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CEEF3"/>
                </a:solidFill>
                <a:latin typeface="Calibri"/>
                <a:ea typeface="Calibri"/>
                <a:cs typeface="Calibri"/>
                <a:sym typeface="Calibri"/>
              </a:rPr>
              <a:t>2 semanas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5865876" y="3063240"/>
            <a:ext cx="109728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A6B7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5980176" y="2788920"/>
            <a:ext cx="1691640" cy="777240"/>
          </a:xfrm>
          <a:prstGeom prst="roundRect">
            <a:avLst>
              <a:gd fmla="val 8235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 txBox="1"/>
          <p:nvPr/>
        </p:nvSpPr>
        <p:spPr>
          <a:xfrm>
            <a:off x="5980176" y="288036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Sprint 4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5980176" y="320040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EEF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CEEF3"/>
                </a:solidFill>
                <a:latin typeface="Calibri"/>
                <a:ea typeface="Calibri"/>
                <a:cs typeface="Calibri"/>
                <a:sym typeface="Calibri"/>
              </a:rPr>
              <a:t>2 semanas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7676388" y="3063240"/>
            <a:ext cx="109728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A6B7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7790688" y="2788920"/>
            <a:ext cx="1691640" cy="777240"/>
          </a:xfrm>
          <a:prstGeom prst="roundRect">
            <a:avLst>
              <a:gd fmla="val 8235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 txBox="1"/>
          <p:nvPr/>
        </p:nvSpPr>
        <p:spPr>
          <a:xfrm>
            <a:off x="7790688" y="288036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Sprint 5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 txBox="1"/>
          <p:nvPr/>
        </p:nvSpPr>
        <p:spPr>
          <a:xfrm>
            <a:off x="7790688" y="320040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EEF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CEEF3"/>
                </a:solidFill>
                <a:latin typeface="Calibri"/>
                <a:ea typeface="Calibri"/>
                <a:cs typeface="Calibri"/>
                <a:sym typeface="Calibri"/>
              </a:rPr>
              <a:t>2 semanas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9486900" y="3063240"/>
            <a:ext cx="109728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A6B7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9601200" y="2788920"/>
            <a:ext cx="1691640" cy="777240"/>
          </a:xfrm>
          <a:prstGeom prst="roundRect">
            <a:avLst>
              <a:gd fmla="val 8235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 txBox="1"/>
          <p:nvPr/>
        </p:nvSpPr>
        <p:spPr>
          <a:xfrm>
            <a:off x="9601200" y="288036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Sprint 6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 txBox="1"/>
          <p:nvPr/>
        </p:nvSpPr>
        <p:spPr>
          <a:xfrm>
            <a:off x="9601200" y="320040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EEF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CEEF3"/>
                </a:solidFill>
                <a:latin typeface="Calibri"/>
                <a:ea typeface="Calibri"/>
                <a:cs typeface="Calibri"/>
                <a:sym typeface="Calibri"/>
              </a:rPr>
              <a:t>2 semanas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548640" y="38862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ROLES SCRUM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548640" y="4251960"/>
            <a:ext cx="3611880" cy="1554480"/>
          </a:xfrm>
          <a:prstGeom prst="roundRect">
            <a:avLst>
              <a:gd fmla="val 5882" name="adj"/>
            </a:avLst>
          </a:prstGeom>
          <a:solidFill>
            <a:srgbClr val="F4F8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 txBox="1"/>
          <p:nvPr/>
        </p:nvSpPr>
        <p:spPr>
          <a:xfrm>
            <a:off x="777240" y="438912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Product Owner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777240" y="5010912"/>
            <a:ext cx="3154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Prioriza el backlog y valida cada incremento funcional.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4274136" y="4251960"/>
            <a:ext cx="3611880" cy="1554480"/>
          </a:xfrm>
          <a:prstGeom prst="roundRect">
            <a:avLst>
              <a:gd fmla="val 5882" name="adj"/>
            </a:avLst>
          </a:prstGeom>
          <a:solidFill>
            <a:srgbClr val="F4F8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 txBox="1"/>
          <p:nvPr/>
        </p:nvSpPr>
        <p:spPr>
          <a:xfrm>
            <a:off x="4526280" y="438912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Scrum Master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 txBox="1"/>
          <p:nvPr/>
        </p:nvSpPr>
        <p:spPr>
          <a:xfrm>
            <a:off x="4526280" y="5010912"/>
            <a:ext cx="3154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Facilita las reuniones  y remueve impedimentos del equipo.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8046720" y="4251960"/>
            <a:ext cx="3611880" cy="1554480"/>
          </a:xfrm>
          <a:prstGeom prst="roundRect">
            <a:avLst>
              <a:gd fmla="val 5882" name="adj"/>
            </a:avLst>
          </a:prstGeom>
          <a:solidFill>
            <a:srgbClr val="F4F8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 txBox="1"/>
          <p:nvPr/>
        </p:nvSpPr>
        <p:spPr>
          <a:xfrm>
            <a:off x="8275320" y="438912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Equipo de Desarrollo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 txBox="1"/>
          <p:nvPr/>
        </p:nvSpPr>
        <p:spPr>
          <a:xfrm>
            <a:off x="8275320" y="4690872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Los 3 integrantes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 txBox="1"/>
          <p:nvPr/>
        </p:nvSpPr>
        <p:spPr>
          <a:xfrm>
            <a:off x="762000" y="4754880"/>
            <a:ext cx="189716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Claudio Murúa</a:t>
            </a:r>
            <a:endParaRPr/>
          </a:p>
        </p:txBody>
      </p:sp>
      <p:sp>
        <p:nvSpPr>
          <p:cNvPr id="159" name="Google Shape;159;p6"/>
          <p:cNvSpPr txBox="1"/>
          <p:nvPr/>
        </p:nvSpPr>
        <p:spPr>
          <a:xfrm>
            <a:off x="4419295" y="4754880"/>
            <a:ext cx="209457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Nicolás Cárdenas</a:t>
            </a:r>
            <a:endParaRPr/>
          </a:p>
        </p:txBody>
      </p:sp>
      <p:sp>
        <p:nvSpPr>
          <p:cNvPr id="160" name="Google Shape;160;p6"/>
          <p:cNvSpPr txBox="1"/>
          <p:nvPr/>
        </p:nvSpPr>
        <p:spPr>
          <a:xfrm>
            <a:off x="8237719" y="4985828"/>
            <a:ext cx="331389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Claudio Murúa - Cristian Solís - Nicolás Cárdenas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B76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PLAN DE TRABAJO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Cronograma — Carta Gantt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493776" y="1545336"/>
            <a:ext cx="11173968" cy="4614712"/>
          </a:xfrm>
          <a:prstGeom prst="roundRect">
            <a:avLst>
              <a:gd fmla="val 1189" name="adj"/>
            </a:avLst>
          </a:prstGeom>
          <a:solidFill>
            <a:srgbClr val="FFFFFF"/>
          </a:solidFill>
          <a:ln cap="flat" cmpd="sng" w="12700">
            <a:solidFill>
              <a:srgbClr val="D7E0E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A2733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 txBox="1"/>
          <p:nvPr/>
        </p:nvSpPr>
        <p:spPr>
          <a:xfrm>
            <a:off x="548640" y="6269776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A6B76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5A6B76"/>
                </a:solidFill>
                <a:latin typeface="Calibri"/>
                <a:ea typeface="Calibri"/>
                <a:cs typeface="Calibri"/>
                <a:sym typeface="Calibri"/>
              </a:rPr>
              <a:t>5 fases (12  semanas): levantamiento y diseño → backend/cliente base → CRUD y resultados → reportes → testing y entrega. Detalle de tareas, fechas y responsables en el documento de proyecto.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594" y="1758827"/>
            <a:ext cx="11077286" cy="4334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B76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PLAN DE TRABAJO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Matriz RACI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1743304" y="1636776"/>
            <a:ext cx="8705088" cy="3656131"/>
          </a:xfrm>
          <a:prstGeom prst="roundRect">
            <a:avLst>
              <a:gd fmla="val 1501" name="adj"/>
            </a:avLst>
          </a:prstGeom>
          <a:solidFill>
            <a:srgbClr val="FFFFFF"/>
          </a:solidFill>
          <a:ln cap="flat" cmpd="sng" w="12700">
            <a:solidFill>
              <a:srgbClr val="D7E0E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A2733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1709" y="1712094"/>
            <a:ext cx="8415972" cy="33726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B76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PLAN DE TRABAJO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Herramientas de trabajo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902056" y="2075688"/>
            <a:ext cx="10387584" cy="3763788"/>
          </a:xfrm>
          <a:prstGeom prst="roundRect">
            <a:avLst>
              <a:gd fmla="val 1944" name="adj"/>
            </a:avLst>
          </a:prstGeom>
          <a:solidFill>
            <a:srgbClr val="FFFFFF"/>
          </a:solidFill>
          <a:ln cap="flat" cmpd="sng" w="12700">
            <a:solidFill>
              <a:srgbClr val="D7E0E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1A2733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896" y="2418627"/>
            <a:ext cx="10088208" cy="2965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B76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DISEÑO TÉCNICO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Esquema preliminar de la base de datos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2807764" y="1527048"/>
            <a:ext cx="6576167" cy="4764024"/>
          </a:xfrm>
          <a:prstGeom prst="roundRect">
            <a:avLst>
              <a:gd fmla="val 1536" name="adj"/>
            </a:avLst>
          </a:prstGeom>
          <a:solidFill>
            <a:srgbClr val="FFFFFF"/>
          </a:solidFill>
          <a:ln cap="flat" cmpd="sng" w="12700">
            <a:solidFill>
              <a:srgbClr val="D7E0E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1A2733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esquema_bd.png" id="201" name="Google Shape;20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80916" y="1600200"/>
            <a:ext cx="6429863" cy="4617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B76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REQUISITOS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Requisitos funcionales y no funcionales (preliminares)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 txBox="1"/>
          <p:nvPr/>
        </p:nvSpPr>
        <p:spPr>
          <a:xfrm>
            <a:off x="548640" y="15087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REQUISITOS FUNCIONALES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548640" y="1901952"/>
            <a:ext cx="685800" cy="566928"/>
          </a:xfrm>
          <a:prstGeom prst="roundRect">
            <a:avLst>
              <a:gd fmla="val 9677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 txBox="1"/>
          <p:nvPr/>
        </p:nvSpPr>
        <p:spPr>
          <a:xfrm>
            <a:off x="548640" y="1901952"/>
            <a:ext cx="685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RF01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 txBox="1"/>
          <p:nvPr/>
        </p:nvSpPr>
        <p:spPr>
          <a:xfrm>
            <a:off x="1371600" y="1901952"/>
            <a:ext cx="4206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Registrar una muestra con código único desde la app de escritorio.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548640" y="2560320"/>
            <a:ext cx="685800" cy="566928"/>
          </a:xfrm>
          <a:prstGeom prst="roundRect">
            <a:avLst>
              <a:gd fmla="val 9677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 txBox="1"/>
          <p:nvPr/>
        </p:nvSpPr>
        <p:spPr>
          <a:xfrm>
            <a:off x="548640" y="2560320"/>
            <a:ext cx="685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RF02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 txBox="1"/>
          <p:nvPr/>
        </p:nvSpPr>
        <p:spPr>
          <a:xfrm>
            <a:off x="1371600" y="2560320"/>
            <a:ext cx="4206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Ingresar resultados asociados a un análisis.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548640" y="3218688"/>
            <a:ext cx="685800" cy="566928"/>
          </a:xfrm>
          <a:prstGeom prst="roundRect">
            <a:avLst>
              <a:gd fmla="val 9677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 txBox="1"/>
          <p:nvPr/>
        </p:nvSpPr>
        <p:spPr>
          <a:xfrm>
            <a:off x="548640" y="3218688"/>
            <a:ext cx="685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RF03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 txBox="1"/>
          <p:nvPr/>
        </p:nvSpPr>
        <p:spPr>
          <a:xfrm>
            <a:off x="1371600" y="3218688"/>
            <a:ext cx="4206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Validar rangos de resultados automáticamente.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548640" y="3877056"/>
            <a:ext cx="685800" cy="566928"/>
          </a:xfrm>
          <a:prstGeom prst="roundRect">
            <a:avLst>
              <a:gd fmla="val 9677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 txBox="1"/>
          <p:nvPr/>
        </p:nvSpPr>
        <p:spPr>
          <a:xfrm>
            <a:off x="548640" y="3877056"/>
            <a:ext cx="685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RF04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 txBox="1"/>
          <p:nvPr/>
        </p:nvSpPr>
        <p:spPr>
          <a:xfrm>
            <a:off x="1371600" y="3877056"/>
            <a:ext cx="4206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Permitir la aprobación de resultados por un supervisor.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548640" y="4535424"/>
            <a:ext cx="685800" cy="566928"/>
          </a:xfrm>
          <a:prstGeom prst="roundRect">
            <a:avLst>
              <a:gd fmla="val 9677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 txBox="1"/>
          <p:nvPr/>
        </p:nvSpPr>
        <p:spPr>
          <a:xfrm>
            <a:off x="548640" y="4535424"/>
            <a:ext cx="685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RF05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 txBox="1"/>
          <p:nvPr/>
        </p:nvSpPr>
        <p:spPr>
          <a:xfrm>
            <a:off x="1371600" y="4535424"/>
            <a:ext cx="4206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Generar un reporte PDF descargable desde el cliente.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548640" y="5193792"/>
            <a:ext cx="685800" cy="566928"/>
          </a:xfrm>
          <a:prstGeom prst="roundRect">
            <a:avLst>
              <a:gd fmla="val 9677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 txBox="1"/>
          <p:nvPr/>
        </p:nvSpPr>
        <p:spPr>
          <a:xfrm>
            <a:off x="548640" y="5193792"/>
            <a:ext cx="685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RF06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 txBox="1"/>
          <p:nvPr/>
        </p:nvSpPr>
        <p:spPr>
          <a:xfrm>
            <a:off x="1371600" y="5193792"/>
            <a:ext cx="4206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Autenticación contra el backend con roles diferenciados.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 txBox="1"/>
          <p:nvPr/>
        </p:nvSpPr>
        <p:spPr>
          <a:xfrm>
            <a:off x="6309360" y="15087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REQUISITOS NO FUNCIONALES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6309360" y="1901952"/>
            <a:ext cx="868680" cy="566928"/>
          </a:xfrm>
          <a:prstGeom prst="roundRect">
            <a:avLst>
              <a:gd fmla="val 9677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 txBox="1"/>
          <p:nvPr/>
        </p:nvSpPr>
        <p:spPr>
          <a:xfrm>
            <a:off x="6309360" y="1901952"/>
            <a:ext cx="868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RNF01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 txBox="1"/>
          <p:nvPr/>
        </p:nvSpPr>
        <p:spPr>
          <a:xfrm>
            <a:off x="7315200" y="1901952"/>
            <a:ext cx="4297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Tiempo de respuesta de la API &lt; 1 segundo.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6309360" y="2560320"/>
            <a:ext cx="868680" cy="566928"/>
          </a:xfrm>
          <a:prstGeom prst="roundRect">
            <a:avLst>
              <a:gd fmla="val 9677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 txBox="1"/>
          <p:nvPr/>
        </p:nvSpPr>
        <p:spPr>
          <a:xfrm>
            <a:off x="6309360" y="2560320"/>
            <a:ext cx="868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RNF02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 txBox="1"/>
          <p:nvPr/>
        </p:nvSpPr>
        <p:spPr>
          <a:xfrm>
            <a:off x="7315200" y="2560320"/>
            <a:ext cx="4297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La app de escritorio debe ejecutarse en Windows y Linux.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6309360" y="3218688"/>
            <a:ext cx="868680" cy="566928"/>
          </a:xfrm>
          <a:prstGeom prst="roundRect">
            <a:avLst>
              <a:gd fmla="val 9677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 txBox="1"/>
          <p:nvPr/>
        </p:nvSpPr>
        <p:spPr>
          <a:xfrm>
            <a:off x="6309360" y="3218688"/>
            <a:ext cx="868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RNF03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 txBox="1"/>
          <p:nvPr/>
        </p:nvSpPr>
        <p:spPr>
          <a:xfrm>
            <a:off x="7315200" y="3218688"/>
            <a:ext cx="4297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Contraseñas almacenadas con hash seguro (BCrypt) en el backend.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6309360" y="3877056"/>
            <a:ext cx="868680" cy="566928"/>
          </a:xfrm>
          <a:prstGeom prst="roundRect">
            <a:avLst>
              <a:gd fmla="val 9677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 txBox="1"/>
          <p:nvPr/>
        </p:nvSpPr>
        <p:spPr>
          <a:xfrm>
            <a:off x="6309360" y="3877056"/>
            <a:ext cx="868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RNF04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 txBox="1"/>
          <p:nvPr/>
        </p:nvSpPr>
        <p:spPr>
          <a:xfrm>
            <a:off x="7315200" y="3877056"/>
            <a:ext cx="4297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Comunicación cliente-servidor mediante HTTPS.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6309360" y="4535424"/>
            <a:ext cx="868680" cy="566928"/>
          </a:xfrm>
          <a:prstGeom prst="roundRect">
            <a:avLst>
              <a:gd fmla="val 9677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 txBox="1"/>
          <p:nvPr/>
        </p:nvSpPr>
        <p:spPr>
          <a:xfrm>
            <a:off x="6309360" y="4535424"/>
            <a:ext cx="868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RNF05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 txBox="1"/>
          <p:nvPr/>
        </p:nvSpPr>
        <p:spPr>
          <a:xfrm>
            <a:off x="7315200" y="4535424"/>
            <a:ext cx="4297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Código versionado en GitHub con commits documentados.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B76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DISEÑO DE INTERFAZ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Mockups tentativos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502920" y="1463040"/>
            <a:ext cx="3611880" cy="2176272"/>
          </a:xfrm>
          <a:prstGeom prst="roundRect">
            <a:avLst>
              <a:gd fmla="val 2101" name="adj"/>
            </a:avLst>
          </a:prstGeom>
          <a:solidFill>
            <a:srgbClr val="FFFFFF"/>
          </a:solidFill>
          <a:ln cap="flat" cmpd="sng" w="12700">
            <a:solidFill>
              <a:srgbClr val="D7E0E3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A2733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mockup_login.png" id="254" name="Google Shape;25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08760"/>
            <a:ext cx="3520440" cy="2084832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2"/>
          <p:cNvSpPr txBox="1"/>
          <p:nvPr/>
        </p:nvSpPr>
        <p:spPr>
          <a:xfrm>
            <a:off x="548640" y="3648456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1. Inicio de sesión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4206240" y="1463040"/>
            <a:ext cx="3611880" cy="2176272"/>
          </a:xfrm>
          <a:prstGeom prst="roundRect">
            <a:avLst>
              <a:gd fmla="val 2101" name="adj"/>
            </a:avLst>
          </a:prstGeom>
          <a:solidFill>
            <a:srgbClr val="FFFFFF"/>
          </a:solidFill>
          <a:ln cap="flat" cmpd="sng" w="12700">
            <a:solidFill>
              <a:srgbClr val="D7E0E3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A2733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mockup_listado.png" id="257" name="Google Shape;25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1960" y="1508760"/>
            <a:ext cx="3520440" cy="2084832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2"/>
          <p:cNvSpPr txBox="1"/>
          <p:nvPr/>
        </p:nvSpPr>
        <p:spPr>
          <a:xfrm>
            <a:off x="4251960" y="3648456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2. Listado de muestras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7909560" y="1463040"/>
            <a:ext cx="3611880" cy="2176272"/>
          </a:xfrm>
          <a:prstGeom prst="roundRect">
            <a:avLst>
              <a:gd fmla="val 2101" name="adj"/>
            </a:avLst>
          </a:prstGeom>
          <a:solidFill>
            <a:srgbClr val="FFFFFF"/>
          </a:solidFill>
          <a:ln cap="flat" cmpd="sng" w="12700">
            <a:solidFill>
              <a:srgbClr val="D7E0E3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A2733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mockup_registro.png" id="260" name="Google Shape;26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55280" y="1508760"/>
            <a:ext cx="3520440" cy="2084832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2"/>
          <p:cNvSpPr txBox="1"/>
          <p:nvPr/>
        </p:nvSpPr>
        <p:spPr>
          <a:xfrm>
            <a:off x="7955280" y="3648456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3. Registro de nueva muestra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502920" y="3931920"/>
            <a:ext cx="3611880" cy="2176272"/>
          </a:xfrm>
          <a:prstGeom prst="roundRect">
            <a:avLst>
              <a:gd fmla="val 2101" name="adj"/>
            </a:avLst>
          </a:prstGeom>
          <a:solidFill>
            <a:srgbClr val="FFFFFF"/>
          </a:solidFill>
          <a:ln cap="flat" cmpd="sng" w="12700">
            <a:solidFill>
              <a:srgbClr val="D7E0E3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A2733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mockup_resultados.png" id="263" name="Google Shape;263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8640" y="3977640"/>
            <a:ext cx="3520440" cy="2084832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2"/>
          <p:cNvSpPr txBox="1"/>
          <p:nvPr/>
        </p:nvSpPr>
        <p:spPr>
          <a:xfrm>
            <a:off x="548640" y="6117336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4. Ingreso de resultados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4206240" y="3931920"/>
            <a:ext cx="3611880" cy="2176272"/>
          </a:xfrm>
          <a:prstGeom prst="roundRect">
            <a:avLst>
              <a:gd fmla="val 2101" name="adj"/>
            </a:avLst>
          </a:prstGeom>
          <a:solidFill>
            <a:srgbClr val="FFFFFF"/>
          </a:solidFill>
          <a:ln cap="flat" cmpd="sng" w="12700">
            <a:solidFill>
              <a:srgbClr val="D7E0E3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A2733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mockup_aprobacion.png" id="266" name="Google Shape;266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51960" y="3977640"/>
            <a:ext cx="3520440" cy="2084832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2"/>
          <p:cNvSpPr txBox="1"/>
          <p:nvPr/>
        </p:nvSpPr>
        <p:spPr>
          <a:xfrm>
            <a:off x="4251960" y="6117336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5. Aprobación de resultados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7909560" y="3931920"/>
            <a:ext cx="3611880" cy="2176272"/>
          </a:xfrm>
          <a:prstGeom prst="roundRect">
            <a:avLst>
              <a:gd fmla="val 2101" name="adj"/>
            </a:avLst>
          </a:prstGeom>
          <a:solidFill>
            <a:srgbClr val="FFFFFF"/>
          </a:solidFill>
          <a:ln cap="flat" cmpd="sng" w="12700">
            <a:solidFill>
              <a:srgbClr val="D7E0E3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A2733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ssets/mockup_reporte.png" id="269" name="Google Shape;269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55280" y="3977640"/>
            <a:ext cx="3520440" cy="2084832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2"/>
          <p:cNvSpPr txBox="1"/>
          <p:nvPr/>
        </p:nvSpPr>
        <p:spPr>
          <a:xfrm>
            <a:off x="7955280" y="6117336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6. Vista previa del reporte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3"/>
          <p:cNvSpPr/>
          <p:nvPr/>
        </p:nvSpPr>
        <p:spPr>
          <a:xfrm>
            <a:off x="-1645920" y="3840480"/>
            <a:ext cx="4754880" cy="4754880"/>
          </a:xfrm>
          <a:prstGeom prst="ellipse">
            <a:avLst/>
          </a:prstGeom>
          <a:solidFill>
            <a:srgbClr val="065A82">
              <a:alpha val="6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 txBox="1"/>
          <p:nvPr/>
        </p:nvSpPr>
        <p:spPr>
          <a:xfrm>
            <a:off x="822960" y="2468880"/>
            <a:ext cx="7315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b="1" lang="en-US" sz="4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Gracias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 txBox="1"/>
          <p:nvPr/>
        </p:nvSpPr>
        <p:spPr>
          <a:xfrm>
            <a:off x="868680" y="33375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LIMS — Sistema de Gestión de Información de Laboratorio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 txBox="1"/>
          <p:nvPr/>
        </p:nvSpPr>
        <p:spPr>
          <a:xfrm>
            <a:off x="868680" y="3886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C7D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FC7D8"/>
                </a:solidFill>
                <a:latin typeface="Calibri"/>
                <a:ea typeface="Calibri"/>
                <a:cs typeface="Calibri"/>
                <a:sym typeface="Calibri"/>
              </a:rPr>
              <a:t>Claudio Murua  ·  Cristian Solís  ·  Nicolás Cárdenas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2026-08-31T02:06:30Z</dcterms:created>
  <dc:creator>PptxGenJS</dc:creator>
</cp:coreProperties>
</file>